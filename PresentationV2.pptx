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4E0DD-298B-4EA4-B433-0CFD9C25EA57}" v="181" dt="2026-01-12T13:28:29.893"/>
    <p1510:client id="{F9A4D576-8B56-45CE-31BC-7214123CAFB7}" v="3" dt="2026-01-12T14:13:07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604" y="1055509"/>
            <a:ext cx="9144000" cy="23876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Library Management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403195" y="579511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 sz="3200" smtClean="0">
                <a:ea typeface="+mn-lt"/>
                <a:cs typeface="+mn-lt"/>
              </a:rPr>
              <a:t>От</a:t>
            </a:r>
            <a:r>
              <a:rPr lang="en-US" sz="3200" smtClean="0">
                <a:ea typeface="+mn-lt"/>
                <a:cs typeface="+mn-lt"/>
              </a:rPr>
              <a:t>: </a:t>
            </a:r>
            <a:r>
              <a:rPr lang="en-US" sz="3200">
                <a:ea typeface="+mn-lt"/>
                <a:cs typeface="+mn-lt"/>
              </a:rPr>
              <a:t>Dimitar Ivanov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1597-076B-1BB8-7BAA-30E86A55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Какво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представлява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проектът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9FCC-1D8E-252E-44A3-CB8AAE30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err="1">
                <a:ea typeface="+mn-lt"/>
                <a:cs typeface="+mn-lt"/>
              </a:rPr>
              <a:t>Конзолно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приложение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управление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на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библиотека</a:t>
            </a:r>
            <a:endParaRPr lang="en-US" sz="3200" b="1" err="1"/>
          </a:p>
          <a:p>
            <a:r>
              <a:rPr lang="en-US" sz="3200" err="1">
                <a:ea typeface="+mn-lt"/>
                <a:cs typeface="+mn-lt"/>
              </a:rPr>
              <a:t>Използвани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класове</a:t>
            </a:r>
            <a:r>
              <a:rPr lang="en-US" sz="3200">
                <a:ea typeface="+mn-lt"/>
                <a:cs typeface="+mn-lt"/>
              </a:rPr>
              <a:t>: </a:t>
            </a:r>
            <a:r>
              <a:rPr lang="en-US" sz="3200" b="1">
                <a:ea typeface="+mn-lt"/>
                <a:cs typeface="+mn-lt"/>
              </a:rPr>
              <a:t>User, Student, Librarian, Library</a:t>
            </a:r>
            <a:endParaRPr lang="en-US"/>
          </a:p>
          <a:p>
            <a:r>
              <a:rPr lang="en-US" sz="3200" err="1">
                <a:ea typeface="+mn-lt"/>
                <a:cs typeface="+mn-lt"/>
              </a:rPr>
              <a:t>Демонстрира</a:t>
            </a:r>
            <a:r>
              <a:rPr lang="en-US" sz="3200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 sz="3200" err="1">
                <a:ea typeface="+mn-lt"/>
                <a:cs typeface="+mn-lt"/>
              </a:rPr>
              <a:t>Наследяване</a:t>
            </a:r>
            <a:endParaRPr lang="en-US" err="1"/>
          </a:p>
          <a:p>
            <a:r>
              <a:rPr lang="en-US" sz="3200" err="1">
                <a:ea typeface="+mn-lt"/>
                <a:cs typeface="+mn-lt"/>
              </a:rPr>
              <a:t>Полиморфизъм</a:t>
            </a:r>
            <a:endParaRPr lang="en-US" err="1"/>
          </a:p>
          <a:p>
            <a:r>
              <a:rPr lang="en-US" sz="3200" err="1">
                <a:ea typeface="+mn-lt"/>
                <a:cs typeface="+mn-lt"/>
              </a:rPr>
              <a:t>Капсулация</a:t>
            </a:r>
            <a:endParaRPr lang="en-US" err="1"/>
          </a:p>
          <a:p>
            <a:pPr marL="0" indent="0">
              <a:buNone/>
            </a:pPr>
            <a:r>
              <a:rPr lang="en-US" sz="3200" err="1">
                <a:ea typeface="+mn-lt"/>
                <a:cs typeface="+mn-lt"/>
              </a:rPr>
              <a:t>Обработка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на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изключения</a:t>
            </a:r>
            <a:endParaRPr lang="en-US" err="1">
              <a:ea typeface="+mn-lt"/>
              <a:cs typeface="+mn-lt"/>
            </a:endParaRPr>
          </a:p>
          <a:p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22458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E807-06C7-1A77-0111-3201CF12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Архитектура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на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класовете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474B-B692-4520-29C6-5CDFA660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User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базов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клас</a:t>
            </a:r>
          </a:p>
          <a:p>
            <a:r>
              <a:rPr lang="en-US" b="1">
                <a:ea typeface="+mn-lt"/>
                <a:cs typeface="+mn-lt"/>
              </a:rPr>
              <a:t>Student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наследява</a:t>
            </a:r>
            <a:r>
              <a:rPr lang="en-US">
                <a:ea typeface="+mn-lt"/>
                <a:cs typeface="+mn-lt"/>
              </a:rPr>
              <a:t> User, </a:t>
            </a:r>
            <a:r>
              <a:rPr lang="en-US" err="1">
                <a:ea typeface="+mn-lt"/>
                <a:cs typeface="+mn-lt"/>
              </a:rPr>
              <a:t>може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заема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връща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книги</a:t>
            </a:r>
          </a:p>
          <a:p>
            <a:r>
              <a:rPr lang="en-US" b="1">
                <a:ea typeface="+mn-lt"/>
                <a:cs typeface="+mn-lt"/>
              </a:rPr>
              <a:t>Librarian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наследява</a:t>
            </a:r>
            <a:r>
              <a:rPr lang="en-US">
                <a:ea typeface="+mn-lt"/>
                <a:cs typeface="+mn-lt"/>
              </a:rPr>
              <a:t> User, </a:t>
            </a:r>
            <a:r>
              <a:rPr lang="en-US" err="1">
                <a:ea typeface="+mn-lt"/>
                <a:cs typeface="+mn-lt"/>
              </a:rPr>
              <a:t>може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добавя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премахва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книги</a:t>
            </a:r>
          </a:p>
          <a:p>
            <a:r>
              <a:rPr lang="en-US" b="1">
                <a:ea typeface="+mn-lt"/>
                <a:cs typeface="+mn-lt"/>
              </a:rPr>
              <a:t>Library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управлява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масиви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книги</a:t>
            </a:r>
            <a:r>
              <a:rPr lang="en-US">
                <a:ea typeface="+mn-lt"/>
                <a:cs typeface="+mn-lt"/>
              </a:rPr>
              <a:t> (id, title, author, year, borrowed)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D668-E279-4E76-4579-7220C1A1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UML </a:t>
            </a:r>
            <a:r>
              <a:rPr lang="en-US" err="1">
                <a:ea typeface="+mj-lt"/>
                <a:cs typeface="+mj-lt"/>
              </a:rPr>
              <a:t>диаграма</a:t>
            </a:r>
            <a:r>
              <a:rPr lang="en-US">
                <a:ea typeface="+mj-lt"/>
                <a:cs typeface="+mj-lt"/>
              </a:rPr>
              <a:t> </a:t>
            </a:r>
            <a:endParaRPr lang="en-US" err="1"/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6F796AF5-91BA-F90A-B659-7C7042499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50" y="1538016"/>
            <a:ext cx="9097433" cy="46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1188-D272-A8AB-4699-4D1771D6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Основни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функции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F002-56F6-FCD7-69A3-E2B9F7D8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/>
              <a:t>Librarian:</a:t>
            </a:r>
          </a:p>
          <a:p>
            <a:r>
              <a:rPr lang="en-US" sz="2000" err="1">
                <a:ea typeface="+mn-lt"/>
                <a:cs typeface="+mn-lt"/>
              </a:rPr>
              <a:t>AddBook</a:t>
            </a:r>
            <a:r>
              <a:rPr lang="en-US" sz="2000">
                <a:ea typeface="+mn-lt"/>
                <a:cs typeface="+mn-lt"/>
              </a:rPr>
              <a:t>(id, title, author, year)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RemoveBook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/>
              <a:t>Student:</a:t>
            </a:r>
          </a:p>
          <a:p>
            <a:r>
              <a:rPr lang="en-US" sz="2000" err="1">
                <a:ea typeface="+mn-lt"/>
                <a:cs typeface="+mn-lt"/>
              </a:rPr>
              <a:t>BorrowBook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ReturnBook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/>
              <a:t>Library:</a:t>
            </a:r>
          </a:p>
          <a:p>
            <a:r>
              <a:rPr lang="en-US" sz="2000" err="1">
                <a:ea typeface="+mn-lt"/>
                <a:cs typeface="+mn-lt"/>
              </a:rPr>
              <a:t>ListBooks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FindBook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BorrowBook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ReturnBook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382" y="1088977"/>
            <a:ext cx="6392167" cy="28545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596" y="4001294"/>
            <a:ext cx="7325747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6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83D0-FC87-FF0E-5452-37F326A8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err="1">
                <a:ea typeface="+mj-lt"/>
                <a:cs typeface="+mj-lt"/>
              </a:rPr>
              <a:t>Примерен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en-US" sz="4800" err="1">
                <a:ea typeface="+mj-lt"/>
                <a:cs typeface="+mj-lt"/>
              </a:rPr>
              <a:t>сценарий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D08F-5F8F-0AA2-61A0-6BDE46BD8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Librarian </a:t>
            </a:r>
            <a:r>
              <a:rPr lang="en-US" sz="3200" err="1">
                <a:ea typeface="+mn-lt"/>
                <a:cs typeface="+mn-lt"/>
              </a:rPr>
              <a:t>добавя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r>
              <a:rPr lang="en-US" sz="3200">
                <a:ea typeface="+mn-lt"/>
                <a:cs typeface="+mn-lt"/>
              </a:rPr>
              <a:t>: → „1984“, George Orwell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заема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опитва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да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заеме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вече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заета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r>
              <a:rPr lang="en-US" sz="3200">
                <a:ea typeface="+mn-lt"/>
                <a:cs typeface="+mn-lt"/>
              </a:rPr>
              <a:t> → </a:t>
            </a:r>
            <a:r>
              <a:rPr lang="en-US" sz="3200" err="1">
                <a:ea typeface="+mn-lt"/>
                <a:cs typeface="+mn-lt"/>
              </a:rPr>
              <a:t>Грешка</a:t>
            </a:r>
            <a:r>
              <a:rPr lang="en-US" sz="3200">
                <a:ea typeface="+mn-lt"/>
                <a:cs typeface="+mn-lt"/>
              </a:rPr>
              <a:t>: „</a:t>
            </a:r>
            <a:r>
              <a:rPr lang="en-US" sz="3200" err="1">
                <a:ea typeface="+mn-lt"/>
                <a:cs typeface="+mn-lt"/>
              </a:rPr>
              <a:t>Книгата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вече</a:t>
            </a:r>
            <a:r>
              <a:rPr lang="en-US" sz="3200">
                <a:ea typeface="+mn-lt"/>
                <a:cs typeface="+mn-lt"/>
              </a:rPr>
              <a:t> е </a:t>
            </a:r>
            <a:r>
              <a:rPr lang="en-US" sz="3200" err="1">
                <a:ea typeface="+mn-lt"/>
                <a:cs typeface="+mn-lt"/>
              </a:rPr>
              <a:t>заета</a:t>
            </a:r>
            <a:r>
              <a:rPr lang="en-US" sz="3200">
                <a:ea typeface="+mn-lt"/>
                <a:cs typeface="+mn-lt"/>
              </a:rPr>
              <a:t>“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връща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Librarian </a:t>
            </a:r>
            <a:r>
              <a:rPr lang="en-US" sz="3200" err="1">
                <a:ea typeface="+mn-lt"/>
                <a:cs typeface="+mn-lt"/>
              </a:rPr>
              <a:t>премахва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2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4BA3-C58B-DA8B-5A4D-95DB5321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err="1">
                <a:ea typeface="+mj-lt"/>
                <a:cs typeface="+mj-lt"/>
              </a:rPr>
              <a:t>Заключение</a:t>
            </a:r>
            <a:endParaRPr lang="en-US" sz="54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AD0E-2B68-3397-5C6F-0229144E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Проектът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демонстрира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Наследяване</a:t>
            </a:r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Полиморфизъм</a:t>
            </a:r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Капсулация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Изключения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Работа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потребителски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smtClean="0">
                <a:ea typeface="+mn-lt"/>
                <a:cs typeface="+mn-lt"/>
              </a:rPr>
              <a:t>вход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1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918EE-BA4C-8C9C-0FFA-B32867D0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834" y="3125052"/>
            <a:ext cx="10515600" cy="5246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7200" err="1">
                <a:ea typeface="+mj-lt"/>
                <a:cs typeface="+mj-lt"/>
              </a:rPr>
              <a:t>Благодаря</a:t>
            </a:r>
            <a:r>
              <a:rPr lang="en-US" sz="7200">
                <a:ea typeface="+mj-lt"/>
                <a:cs typeface="+mj-lt"/>
              </a:rPr>
              <a:t> </a:t>
            </a:r>
            <a:r>
              <a:rPr lang="en-US" sz="7200" err="1">
                <a:ea typeface="+mj-lt"/>
                <a:cs typeface="+mj-lt"/>
              </a:rPr>
              <a:t>за</a:t>
            </a:r>
            <a:r>
              <a:rPr lang="en-US" sz="7200">
                <a:ea typeface="+mj-lt"/>
                <a:cs typeface="+mj-lt"/>
              </a:rPr>
              <a:t> </a:t>
            </a:r>
            <a:r>
              <a:rPr lang="en-US" sz="7200" err="1">
                <a:ea typeface="+mj-lt"/>
                <a:cs typeface="+mj-lt"/>
              </a:rPr>
              <a:t>вниманието</a:t>
            </a:r>
            <a:r>
              <a:rPr lang="en-US" sz="7200">
                <a:ea typeface="+mj-lt"/>
                <a:cs typeface="+mj-lt"/>
              </a:rPr>
              <a:t>!</a:t>
            </a:r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2BC0-5338-5543-7E1B-00EE97EE938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2436541" y="7422182"/>
            <a:ext cx="10515600" cy="9985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7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161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Library Management System</vt:lpstr>
      <vt:lpstr>Какво представлява проектът</vt:lpstr>
      <vt:lpstr>Архитектура на класовете</vt:lpstr>
      <vt:lpstr>UML диаграма </vt:lpstr>
      <vt:lpstr>Основни функции</vt:lpstr>
      <vt:lpstr>Примерен сценарий</vt:lpstr>
      <vt:lpstr>Заключение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creator/>
  <cp:lastModifiedBy>dzi_23</cp:lastModifiedBy>
  <cp:revision>95</cp:revision>
  <dcterms:created xsi:type="dcterms:W3CDTF">2026-01-12T13:08:38Z</dcterms:created>
  <dcterms:modified xsi:type="dcterms:W3CDTF">2026-01-13T09:30:05Z</dcterms:modified>
</cp:coreProperties>
</file>